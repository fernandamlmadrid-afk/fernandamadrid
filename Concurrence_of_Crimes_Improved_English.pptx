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5898825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6906359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8856" y="3428999"/>
            <a:ext cx="4138550" cy="2268559"/>
          </a:xfrm>
        </p:spPr>
        <p:txBody>
          <a:bodyPr anchor="t">
            <a:normAutofit/>
          </a:bodyPr>
          <a:lstStyle>
            <a:lvl1pPr algn="r"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1292" y="2268787"/>
            <a:ext cx="3966114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641440" y="3262168"/>
            <a:ext cx="3117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2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725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742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7405" y="3199028"/>
            <a:ext cx="5967420" cy="1372971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1131" y="2272143"/>
            <a:ext cx="5803294" cy="926885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644924" y="3023993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774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1426" y="805818"/>
            <a:ext cx="5882780" cy="108170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5406" y="2056800"/>
            <a:ext cx="2855547" cy="399314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4679" y="2056800"/>
            <a:ext cx="2859527" cy="399314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TextBox 18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397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TextBox 23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3589" y="805818"/>
            <a:ext cx="5880617" cy="107702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3589" y="2054563"/>
            <a:ext cx="2857364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62510" y="2851330"/>
            <a:ext cx="2858443" cy="319861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84679" y="2054563"/>
            <a:ext cx="285952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84680" y="2851330"/>
            <a:ext cx="2859526" cy="319861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225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TextBox 15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29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469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TextBox 21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83" y="1296618"/>
            <a:ext cx="2120703" cy="1889075"/>
          </a:xfrm>
        </p:spPr>
        <p:txBody>
          <a:bodyPr anchor="b">
            <a:normAutofit/>
          </a:bodyPr>
          <a:lstStyle>
            <a:lvl1pPr algn="l"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8538" y="805818"/>
            <a:ext cx="3755668" cy="5244126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2" y="3186155"/>
            <a:ext cx="2120703" cy="2386397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155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TextBox 12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82987" y="3229"/>
            <a:ext cx="3727769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6671" y="1296618"/>
            <a:ext cx="2603212" cy="188630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4" y="3182928"/>
            <a:ext cx="2603794" cy="2386394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218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TextBox 1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857" y="808057"/>
            <a:ext cx="5885350" cy="107722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20792" y="2049878"/>
            <a:ext cx="5723414" cy="4000066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113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TextBox 22"/>
          <p:cNvSpPr txBox="1"/>
          <p:nvPr/>
        </p:nvSpPr>
        <p:spPr>
          <a:xfrm rot="5400000">
            <a:off x="7688343" y="480678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9317" y="805818"/>
            <a:ext cx="99488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64598" y="970410"/>
            <a:ext cx="4715441" cy="507953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12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060" y="2912532"/>
            <a:ext cx="7772939" cy="394546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98"/>
          <a:stretch/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61317" y="808057"/>
            <a:ext cx="587801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6236" y="2049878"/>
            <a:ext cx="5713092" cy="4000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28294" y="5272451"/>
            <a:ext cx="2662729" cy="179188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58177" y="3658900"/>
            <a:ext cx="5885352" cy="183663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136" y="164594"/>
            <a:ext cx="638312" cy="322850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8427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28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58366" indent="-258366" algn="l" defTabSz="685800" rtl="0" eaLnBrk="1" latinLnBrk="0" hangingPunct="1">
        <a:lnSpc>
          <a:spcPct val="120000"/>
        </a:lnSpc>
        <a:spcBef>
          <a:spcPts val="750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965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441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823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6299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975104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4028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670048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01752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CONCURRENCE OF CRIMES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Criminal Law | Articles 69, 70 and 71 of the Brazilian Penal Code</a:t>
            </a:r>
          </a:p>
          <a:p>
            <a:pPr>
              <a:defRPr sz="1800"/>
            </a:pPr>
            <a:r>
              <a:t>Undergraduate Law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Concept of Concurrence of Crimes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Concurrence of crimes occurs when an offender commits two or more criminal offenses.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Practical relevance:</a:t>
            </a:r>
          </a:p>
          <a:p>
            <a:pPr>
              <a:defRPr sz="1800"/>
            </a:pPr>
            <a:r>
              <a:t>• Direct impact on sentencing</a:t>
            </a:r>
          </a:p>
          <a:p>
            <a:pPr>
              <a:defRPr sz="1800"/>
            </a:pPr>
            <a:r>
              <a:t>• Correct legal qualification</a:t>
            </a:r>
          </a:p>
          <a:p>
            <a:pPr>
              <a:defRPr sz="1800"/>
            </a:pPr>
            <a:r>
              <a:t>• Prevention of double punishment (bis in idem).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Material Concurrence – Art. 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Multiple criminal acts</a:t>
            </a:r>
          </a:p>
          <a:p>
            <a:pPr>
              <a:defRPr sz="1800"/>
            </a:pPr>
            <a:r>
              <a:t>• Multiple crimes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Rule:</a:t>
            </a:r>
          </a:p>
          <a:p>
            <a:pPr>
              <a:defRPr sz="1800"/>
            </a:pPr>
            <a:r>
              <a:t>➡ Addition of all penalties imposed.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Example: two thefts committed on different days.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D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Formal Concurrence – Art.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Single act</a:t>
            </a:r>
          </a:p>
          <a:p>
            <a:pPr>
              <a:defRPr sz="1800"/>
            </a:pPr>
            <a:r>
              <a:t>• Two or more crimes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Proper formal concurrence:</a:t>
            </a:r>
          </a:p>
          <a:p>
            <a:pPr>
              <a:defRPr sz="1800"/>
            </a:pPr>
            <a:r>
              <a:t>➡ Most severe penalty with increase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Improper formal concurrence:</a:t>
            </a:r>
          </a:p>
          <a:p>
            <a:pPr>
              <a:defRPr sz="1800"/>
            </a:pPr>
            <a:r>
              <a:t>➡ Autonomous intent (application of Art. 69).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Continuing Crime – Art. 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Requirements:</a:t>
            </a:r>
          </a:p>
          <a:p>
            <a:pPr>
              <a:defRPr sz="1800"/>
            </a:pPr>
            <a:r>
              <a:t>• Crimes of the same type</a:t>
            </a:r>
          </a:p>
          <a:p>
            <a:pPr>
              <a:defRPr sz="1800"/>
            </a:pPr>
            <a:r>
              <a:t>• Similar conditions of time, place, and manner of execution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Rule:</a:t>
            </a:r>
          </a:p>
          <a:p>
            <a:pPr>
              <a:defRPr sz="1800"/>
            </a:pPr>
            <a:r>
              <a:t>➡ Penalty of one crime with an increase from one-sixth to two-thirds.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E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Key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Material concurrence → Sum of penalties</a:t>
            </a:r>
          </a:p>
          <a:p>
            <a:pPr>
              <a:defRPr sz="1800"/>
            </a:pPr>
            <a:r>
              <a:t>Formal concurrence → Most severe penalty plus increase</a:t>
            </a:r>
          </a:p>
          <a:p>
            <a:pPr>
              <a:defRPr sz="1800"/>
            </a:pPr>
            <a:r>
              <a:t>Continuing crime → Legal fiction favoring the defendant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Key element: number of acts and the link between offenses.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D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Case Law and Practical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The Brazilian Supreme Court (STF) and the Superior Court of Justice (STJ)</a:t>
            </a:r>
          </a:p>
          <a:p>
            <a:pPr>
              <a:defRPr sz="1800"/>
            </a:pPr>
            <a:r>
              <a:t>emphasize detailed factual analysis.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Common mistake: confusing continuing crime with habitual criminal conduct.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B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Artificial Intelligence and Criminal Law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Responsible use of AI:</a:t>
            </a:r>
          </a:p>
          <a:p>
            <a:pPr>
              <a:defRPr sz="1800"/>
            </a:pPr>
            <a:r>
              <a:t>• Simulation of criminal cases</a:t>
            </a:r>
          </a:p>
          <a:p>
            <a:pPr>
              <a:defRPr sz="1800"/>
            </a:pPr>
            <a:r>
              <a:t>• Comparison of legal solutions</a:t>
            </a:r>
          </a:p>
          <a:p>
            <a:pPr>
              <a:defRPr sz="1800"/>
            </a:pPr>
            <a:r>
              <a:t>• Support for legal reasoning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⚠️ Criminal liability and judicial decisions remain human.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1</TotalTime>
  <Words>279</Words>
  <Application>Microsoft Office PowerPoint</Application>
  <PresentationFormat>Apresentação na tela (4:3)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MS Shell Dlg 2</vt:lpstr>
      <vt:lpstr>Wingdings</vt:lpstr>
      <vt:lpstr>Wingdings 3</vt:lpstr>
      <vt:lpstr>Madison</vt:lpstr>
      <vt:lpstr>CONCURRENCE OF CRIMES</vt:lpstr>
      <vt:lpstr>Concept of Concurrence of Crimes</vt:lpstr>
      <vt:lpstr>Material Concurrence – Art. 69</vt:lpstr>
      <vt:lpstr>Formal Concurrence – Art. 70</vt:lpstr>
      <vt:lpstr>Continuing Crime – Art. 71</vt:lpstr>
      <vt:lpstr>Key Differences</vt:lpstr>
      <vt:lpstr>Case Law and Practical Analysis</vt:lpstr>
      <vt:lpstr>Artificial Intelligence and Criminal Law Education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CONCURRENCE OF CRIMES</dc:title>
  <dc:subject/>
  <dc:creator>Usuário</dc:creator>
  <cp:keywords/>
  <dc:description>generated using python-pptx</dc:description>
  <cp:lastModifiedBy>Fernanda de Matos Lima Madrid</cp:lastModifiedBy>
  <cp:revision>2</cp:revision>
  <dcterms:created xsi:type="dcterms:W3CDTF">2013-01-27T09:14:16Z</dcterms:created>
  <dcterms:modified xsi:type="dcterms:W3CDTF">2026-01-14T21:19:28Z</dcterms:modified>
  <cp:category/>
</cp:coreProperties>
</file>